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IBM Plex Sans"/>
      <p:regular r:id="rId28"/>
      <p:bold r:id="rId29"/>
      <p:italic r:id="rId30"/>
      <p:boldItalic r:id="rId31"/>
    </p:embeddedFont>
    <p:embeddedFont>
      <p:font typeface="Sora SemiBold"/>
      <p:regular r:id="rId32"/>
      <p:bold r:id="rId33"/>
    </p:embeddedFont>
    <p:embeddedFont>
      <p:font typeface="IBM Plex Sans Medium"/>
      <p:regular r:id="rId34"/>
      <p:bold r:id="rId35"/>
      <p:italic r:id="rId36"/>
      <p:boldItalic r:id="rId37"/>
    </p:embeddedFont>
    <p:embeddedFont>
      <p:font typeface="Sora Light"/>
      <p:regular r:id="rId38"/>
      <p:bold r:id="rId39"/>
    </p:embeddedFont>
    <p:embeddedFont>
      <p:font typeface="Sora ExtraLight"/>
      <p:regular r:id="rId40"/>
      <p:bold r:id="rId41"/>
    </p:embeddedFont>
    <p:embeddedFont>
      <p:font typeface="Sora"/>
      <p:regular r:id="rId42"/>
      <p:bold r:id="rId43"/>
    </p:embeddedFont>
    <p:embeddedFont>
      <p:font typeface="Sora Medium"/>
      <p:regular r:id="rId44"/>
      <p:bold r:id="rId45"/>
    </p:embeddedFont>
    <p:embeddedFont>
      <p:font typeface="IBM Plex Sans SemiBold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raExtraLight-regular.fntdata"/><Relationship Id="rId42" Type="http://schemas.openxmlformats.org/officeDocument/2006/relationships/font" Target="fonts/Sora-regular.fntdata"/><Relationship Id="rId41" Type="http://schemas.openxmlformats.org/officeDocument/2006/relationships/font" Target="fonts/SoraExtraLight-bold.fntdata"/><Relationship Id="rId44" Type="http://schemas.openxmlformats.org/officeDocument/2006/relationships/font" Target="fonts/SoraMedium-regular.fntdata"/><Relationship Id="rId43" Type="http://schemas.openxmlformats.org/officeDocument/2006/relationships/font" Target="fonts/Sora-bold.fntdata"/><Relationship Id="rId46" Type="http://schemas.openxmlformats.org/officeDocument/2006/relationships/font" Target="fonts/IBMPlexSansSemiBold-regular.fntdata"/><Relationship Id="rId45" Type="http://schemas.openxmlformats.org/officeDocument/2006/relationships/font" Target="fonts/Sora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BMPlexSansSemiBold-italic.fntdata"/><Relationship Id="rId47" Type="http://schemas.openxmlformats.org/officeDocument/2006/relationships/font" Target="fonts/IBMPlexSansSemiBold-bold.fntdata"/><Relationship Id="rId49" Type="http://schemas.openxmlformats.org/officeDocument/2006/relationships/font" Target="fonts/IBMPlexSans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Sans-boldItalic.fntdata"/><Relationship Id="rId30" Type="http://schemas.openxmlformats.org/officeDocument/2006/relationships/font" Target="fonts/IBMPlexSans-italic.fntdata"/><Relationship Id="rId33" Type="http://schemas.openxmlformats.org/officeDocument/2006/relationships/font" Target="fonts/SoraSemiBold-bold.fntdata"/><Relationship Id="rId32" Type="http://schemas.openxmlformats.org/officeDocument/2006/relationships/font" Target="fonts/SoraSemiBold-regular.fntdata"/><Relationship Id="rId35" Type="http://schemas.openxmlformats.org/officeDocument/2006/relationships/font" Target="fonts/IBMPlexSansMedium-bold.fntdata"/><Relationship Id="rId34" Type="http://schemas.openxmlformats.org/officeDocument/2006/relationships/font" Target="fonts/IBMPlexSansMedium-regular.fntdata"/><Relationship Id="rId37" Type="http://schemas.openxmlformats.org/officeDocument/2006/relationships/font" Target="fonts/IBMPlexSansMedium-boldItalic.fntdata"/><Relationship Id="rId36" Type="http://schemas.openxmlformats.org/officeDocument/2006/relationships/font" Target="fonts/IBMPlexSansMedium-italic.fntdata"/><Relationship Id="rId39" Type="http://schemas.openxmlformats.org/officeDocument/2006/relationships/font" Target="fonts/SoraLight-bold.fntdata"/><Relationship Id="rId38" Type="http://schemas.openxmlformats.org/officeDocument/2006/relationships/font" Target="fonts/SoraLight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IBMPlexSans-regular.fntdata"/><Relationship Id="rId27" Type="http://schemas.openxmlformats.org/officeDocument/2006/relationships/slide" Target="slides/slide22.xml"/><Relationship Id="rId29" Type="http://schemas.openxmlformats.org/officeDocument/2006/relationships/font" Target="fonts/IBMPlex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a9fd37e8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a9fd37e8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a9fd37e8f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a9fd37e8f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a9fd37e8f9_0_1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3a9fd37e8f9_0_1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a9fd37e8f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3a9fd37e8f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a9fd37e8f9_0_1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a9fd37e8f9_0_1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a9fd37e8f9_0_1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3a9fd37e8f9_0_1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a9fd37e8f9_0_1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3a9fd37e8f9_0_1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a9fd37e8f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a9fd37e8f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a9fd37e8f9_0_1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a9fd37e8f9_0_1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a9fd37e8f9_0_1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3a9fd37e8f9_0_1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a9fd37e8f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3a9fd37e8f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a9fd37e8f9_0_1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3a9fd37e8f9_0_1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a9fd37e8f9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3a9fd37e8f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a9fd37e8f9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3a9fd37e8f9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a9fd37e8f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3a9fd37e8f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a9fd37e8f9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3a9fd37e8f9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a9fd37e8f9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3a9fd37e8f9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a9fd37e8f9_0_1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3a9fd37e8f9_0_1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a9fd37e8f9_0_1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3a9fd37e8f9_0_1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a9fd37e8f9_0_1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3a9fd37e8f9_0_1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a9fd37e8f9_0_1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3a9fd37e8f9_0_1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a9fd37e8f9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3a9fd37e8f9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app.py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  <a:latin typeface="Sora"/>
                <a:ea typeface="Sora"/>
                <a:cs typeface="Sora"/>
                <a:sym typeface="Sora"/>
              </a:rPr>
              <a:t>DevOps Intern Technical Assessment</a:t>
            </a:r>
            <a:endParaRPr sz="1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Mansi Patil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90" name="Google Shape;890;p51"/>
          <p:cNvSpPr txBox="1"/>
          <p:nvPr/>
        </p:nvSpPr>
        <p:spPr>
          <a:xfrm>
            <a:off x="239400" y="3187600"/>
            <a:ext cx="4368600" cy="117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highlight>
                  <a:schemeClr val="lt1"/>
                </a:highlight>
                <a:latin typeface="Sora"/>
                <a:ea typeface="Sora"/>
                <a:cs typeface="Sora"/>
                <a:sym typeface="Sora"/>
              </a:rPr>
              <a:t>AWS |Terraform | Docker | Kubernetes | Grafana | Loki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896" name="Google Shape;896;p52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5</a:t>
            </a:r>
            <a:r>
              <a:rPr b="0" lang="en"/>
              <a:t>.</a:t>
            </a:r>
            <a:endParaRPr b="0"/>
          </a:p>
        </p:txBody>
      </p:sp>
      <p:sp>
        <p:nvSpPr>
          <p:cNvPr id="897" name="Google Shape;897;p52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Observability using Prometheus + Grafana + Loki</a:t>
            </a:r>
            <a:endParaRPr/>
          </a:p>
        </p:txBody>
      </p:sp>
      <p:sp>
        <p:nvSpPr>
          <p:cNvPr id="898" name="Google Shape;898;p52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4</a:t>
            </a:r>
            <a:r>
              <a:rPr b="0" lang="en"/>
              <a:t>.</a:t>
            </a:r>
            <a:endParaRPr b="0"/>
          </a:p>
        </p:txBody>
      </p:sp>
      <p:sp>
        <p:nvSpPr>
          <p:cNvPr id="899" name="Google Shape;899;p52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Ingress-based routing</a:t>
            </a:r>
            <a:endParaRPr/>
          </a:p>
        </p:txBody>
      </p:sp>
      <p:sp>
        <p:nvSpPr>
          <p:cNvPr id="900" name="Google Shape;900;p52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3.</a:t>
            </a:r>
            <a:endParaRPr b="0"/>
          </a:p>
        </p:txBody>
      </p:sp>
      <p:sp>
        <p:nvSpPr>
          <p:cNvPr id="901" name="Google Shape;901;p52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Deployment using Docker + Kubernetes</a:t>
            </a:r>
            <a:endParaRPr/>
          </a:p>
        </p:txBody>
      </p:sp>
      <p:sp>
        <p:nvSpPr>
          <p:cNvPr id="902" name="Google Shape;902;p52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2</a:t>
            </a:r>
            <a:r>
              <a:rPr b="0" lang="en"/>
              <a:t>.</a:t>
            </a:r>
            <a:endParaRPr b="0"/>
          </a:p>
        </p:txBody>
      </p:sp>
      <p:sp>
        <p:nvSpPr>
          <p:cNvPr id="903" name="Google Shape;903;p52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Provisioning using Terraform</a:t>
            </a:r>
            <a:endParaRPr/>
          </a:p>
        </p:txBody>
      </p:sp>
      <p:sp>
        <p:nvSpPr>
          <p:cNvPr id="904" name="Google Shape;904;p52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1</a:t>
            </a:r>
            <a:r>
              <a:rPr b="0" lang="en"/>
              <a:t>.</a:t>
            </a:r>
            <a:endParaRPr b="0"/>
          </a:p>
        </p:txBody>
      </p:sp>
      <p:sp>
        <p:nvSpPr>
          <p:cNvPr id="905" name="Google Shape;905;p52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project deployed on AWS EKS</a:t>
            </a:r>
            <a:endParaRPr/>
          </a:p>
        </p:txBody>
      </p:sp>
      <p:sp>
        <p:nvSpPr>
          <p:cNvPr id="906" name="Google Shape;906;p52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6.</a:t>
            </a:r>
            <a:endParaRPr b="0"/>
          </a:p>
        </p:txBody>
      </p:sp>
      <p:sp>
        <p:nvSpPr>
          <p:cNvPr id="907" name="Google Shape;907;p52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 production issues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53"/>
          <p:cNvSpPr txBox="1"/>
          <p:nvPr>
            <p:ph idx="3" type="title"/>
          </p:nvPr>
        </p:nvSpPr>
        <p:spPr>
          <a:xfrm>
            <a:off x="583350" y="457200"/>
            <a:ext cx="3941700" cy="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Tools</a:t>
            </a:r>
            <a:endParaRPr sz="2900"/>
          </a:p>
        </p:txBody>
      </p:sp>
      <p:sp>
        <p:nvSpPr>
          <p:cNvPr id="913" name="Google Shape;913;p53"/>
          <p:cNvSpPr txBox="1"/>
          <p:nvPr/>
        </p:nvSpPr>
        <p:spPr>
          <a:xfrm>
            <a:off x="2943150" y="1057575"/>
            <a:ext cx="60924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❖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Terraform: VPC, Subnets, NAT, EKS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❖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Docker: Built backend &amp; frontend images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❖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Kubernetes: Deployment, Service, Ingress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❖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AWS EKS: Managed Kubernetes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❖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Grafana: Metrics dashboards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❖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Loki: Log aggregation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54"/>
          <p:cNvSpPr/>
          <p:nvPr/>
        </p:nvSpPr>
        <p:spPr>
          <a:xfrm flipH="1" rot="10800000">
            <a:off x="6153225" y="2339050"/>
            <a:ext cx="713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9" name="Google Shape;919;p54"/>
          <p:cNvSpPr txBox="1"/>
          <p:nvPr>
            <p:ph type="title"/>
          </p:nvPr>
        </p:nvSpPr>
        <p:spPr>
          <a:xfrm>
            <a:off x="363000" y="374275"/>
            <a:ext cx="2946900" cy="558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Terraform Infrastructure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20" name="Google Shape;920;p54"/>
          <p:cNvSpPr txBox="1"/>
          <p:nvPr/>
        </p:nvSpPr>
        <p:spPr>
          <a:xfrm>
            <a:off x="228600" y="1120300"/>
            <a:ext cx="73011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Created AWS VPC</a:t>
            </a:r>
            <a:endParaRPr sz="12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Public + Private subnet</a:t>
            </a:r>
            <a:endParaRPr sz="12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Internet </a:t>
            </a:r>
            <a:r>
              <a:rPr lang="en" sz="1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Gateway</a:t>
            </a:r>
            <a:r>
              <a:rPr lang="en" sz="1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 ,NAT </a:t>
            </a:r>
            <a:r>
              <a:rPr lang="en" sz="1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gateway</a:t>
            </a:r>
            <a:endParaRPr sz="12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Route table for public and private routing </a:t>
            </a:r>
            <a:endParaRPr sz="12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IAM roles for EKS</a:t>
            </a:r>
            <a:endParaRPr sz="12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S3 bucket + DynamoDB table for Terraform backend</a:t>
            </a:r>
            <a:endParaRPr sz="12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EKS Cluster + Node Group deployed via Terraform </a:t>
            </a:r>
            <a:endParaRPr sz="12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55" title="2025-11-25 (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929" y="375150"/>
            <a:ext cx="7810133" cy="43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0" name="Google Shape;930;p56" title="2025-11-25 (1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650" y="358175"/>
            <a:ext cx="8270702" cy="442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5" name="Google Shape;935;p57" title="2025-11-25 (1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13" y="352288"/>
            <a:ext cx="8301077" cy="443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8"/>
          <p:cNvSpPr txBox="1"/>
          <p:nvPr/>
        </p:nvSpPr>
        <p:spPr>
          <a:xfrm>
            <a:off x="169875" y="228600"/>
            <a:ext cx="676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Backend Application 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1" name="Google Shape;941;p58"/>
          <p:cNvSpPr txBox="1"/>
          <p:nvPr/>
        </p:nvSpPr>
        <p:spPr>
          <a:xfrm>
            <a:off x="2945875" y="532600"/>
            <a:ext cx="5058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Build Python backend (</a:t>
            </a:r>
            <a:r>
              <a:rPr lang="en" sz="1200" u="sng">
                <a:solidFill>
                  <a:schemeClr val="hlink"/>
                </a:solidFill>
                <a:latin typeface="Sora"/>
                <a:ea typeface="Sora"/>
                <a:cs typeface="Sora"/>
                <a:sym typeface="Sora"/>
                <a:hlinkClick r:id="rId3"/>
              </a:rPr>
              <a:t>app.py</a:t>
            </a: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)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Endpoints /api, /health, /metrics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Created Dockerfile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Push image to DockerHub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Created </a:t>
            </a: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backend</a:t>
            </a: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deployment + cluster IP service 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2" name="Google Shape;942;p58"/>
          <p:cNvSpPr txBox="1"/>
          <p:nvPr/>
        </p:nvSpPr>
        <p:spPr>
          <a:xfrm>
            <a:off x="59925" y="2356200"/>
            <a:ext cx="698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Frontend Application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3" name="Google Shape;943;p58"/>
          <p:cNvSpPr txBox="1"/>
          <p:nvPr/>
        </p:nvSpPr>
        <p:spPr>
          <a:xfrm>
            <a:off x="3008600" y="2940475"/>
            <a:ext cx="6162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Simple Nginx-based frontend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Calls backend using /api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Dockerfile added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DockerHub image uploaded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Created frontend Deployment + LoadBalancer Service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59" title="2025-11-25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050" y="304800"/>
            <a:ext cx="8211998" cy="453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Google Shape;953;p60" title="2025-11-26 (1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625" y="160973"/>
            <a:ext cx="8446848" cy="4751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8" name="Google Shape;958;p61" title="2025-11-26 (1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Google Shape;963;p62" title="2025-11-25 (2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63"/>
          <p:cNvSpPr txBox="1"/>
          <p:nvPr/>
        </p:nvSpPr>
        <p:spPr>
          <a:xfrm>
            <a:off x="331150" y="321750"/>
            <a:ext cx="6764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Ingress Controller</a:t>
            </a:r>
            <a:endParaRPr sz="17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9" name="Google Shape;969;p63"/>
          <p:cNvSpPr txBox="1"/>
          <p:nvPr/>
        </p:nvSpPr>
        <p:spPr>
          <a:xfrm>
            <a:off x="2517725" y="1695750"/>
            <a:ext cx="6186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Install Nginx Ingress via helm 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Create ingress rules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/ frontend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/api backend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4" name="Google Shape;974;p64" title="2025-11-25 (2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65"/>
          <p:cNvSpPr txBox="1"/>
          <p:nvPr/>
        </p:nvSpPr>
        <p:spPr>
          <a:xfrm>
            <a:off x="131500" y="51675"/>
            <a:ext cx="67641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apiVersion: networking.k8s.io/v1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kind: Ingress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metadata: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name: app-ingress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namespace: mansi-app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annotations: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 nginx.ingress.k8s.io/rewrite-target: /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spec: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ingressClassName: nginx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rules: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- http: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   paths: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   - path: /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     pathType: Prefix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     backend: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       service: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         name: frontend-service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         port: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           number: 80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   - path: /api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     pathType: Prefix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     backend: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       service: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         name: backend-service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         port: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           number: 5000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66"/>
          <p:cNvSpPr txBox="1"/>
          <p:nvPr/>
        </p:nvSpPr>
        <p:spPr>
          <a:xfrm>
            <a:off x="228600" y="298275"/>
            <a:ext cx="6764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Monitoring and Logging</a:t>
            </a:r>
            <a:endParaRPr sz="17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5" name="Google Shape;985;p66"/>
          <p:cNvSpPr txBox="1"/>
          <p:nvPr/>
        </p:nvSpPr>
        <p:spPr>
          <a:xfrm>
            <a:off x="3245850" y="1581600"/>
            <a:ext cx="56697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Install prometheus using helm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Install Grafana 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Added Grafana datasource 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Build dashboard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Pod CPU/Memory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Node usage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API latency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Logs Explore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" name="Google Shape;990;p67" title="2025-11-26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5" name="Google Shape;995;p68" title="2025-11-26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69"/>
          <p:cNvSpPr txBox="1"/>
          <p:nvPr/>
        </p:nvSpPr>
        <p:spPr>
          <a:xfrm>
            <a:off x="284175" y="234000"/>
            <a:ext cx="6764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Debugging Section</a:t>
            </a:r>
            <a:endParaRPr sz="17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1" name="Google Shape;1001;p69"/>
          <p:cNvSpPr txBox="1"/>
          <p:nvPr/>
        </p:nvSpPr>
        <p:spPr>
          <a:xfrm>
            <a:off x="5744750" y="979375"/>
            <a:ext cx="342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2" name="Google Shape;1002;p69"/>
          <p:cNvSpPr txBox="1"/>
          <p:nvPr/>
        </p:nvSpPr>
        <p:spPr>
          <a:xfrm>
            <a:off x="2715025" y="850200"/>
            <a:ext cx="64563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CrashLoopBackOff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             Issue: Wrong command (main.py instead of app.py)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Fix: Updated command in deployment file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Ingress Route Failure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Issue: Frontend calling /backend, backend exposed /api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Fix: Updated ingress path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 Terraform S3 Backend Error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Issue: Missing S3 bucket + DynamoDB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Fix: Created required backend resources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Logging Not Working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Issue: Wrong log path (*.logx)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 Fix: Updated to *.log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70"/>
          <p:cNvSpPr txBox="1"/>
          <p:nvPr/>
        </p:nvSpPr>
        <p:spPr>
          <a:xfrm>
            <a:off x="228600" y="226350"/>
            <a:ext cx="676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Key Learning</a:t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8" name="Google Shape;1008;p70"/>
          <p:cNvSpPr txBox="1"/>
          <p:nvPr/>
        </p:nvSpPr>
        <p:spPr>
          <a:xfrm>
            <a:off x="542525" y="1437350"/>
            <a:ext cx="67641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➔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Deep understanding of Terraform modules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➔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EKS networking (public/private subnets, NAT)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➔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Monitoring and log collection on production-grade cluster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➔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Kubernetes deployments, services, ingress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➔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Debugging real-world DevOps issues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71"/>
          <p:cNvSpPr txBox="1"/>
          <p:nvPr/>
        </p:nvSpPr>
        <p:spPr>
          <a:xfrm>
            <a:off x="554275" y="357000"/>
            <a:ext cx="6764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Challenges</a:t>
            </a:r>
            <a:endParaRPr sz="17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4" name="Google Shape;1014;p71"/>
          <p:cNvSpPr txBox="1"/>
          <p:nvPr/>
        </p:nvSpPr>
        <p:spPr>
          <a:xfrm>
            <a:off x="718675" y="1613500"/>
            <a:ext cx="6764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➢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NAT gateway + private subnets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➢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Kibana installation failed → switched to Loki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➢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Port-forwarding issues on PowerShell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➢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Grafana login password extraction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➢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Backend-Frontend connectivity via Ingress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015" name="Google Shape;1015;p71"/>
          <p:cNvCxnSpPr/>
          <p:nvPr/>
        </p:nvCxnSpPr>
        <p:spPr>
          <a:xfrm rot="5400000">
            <a:off x="-97500" y="1043875"/>
            <a:ext cx="2548200" cy="1761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" name="Google Shape;1016;p71"/>
          <p:cNvCxnSpPr>
            <a:endCxn id="1013" idx="3"/>
          </p:cNvCxnSpPr>
          <p:nvPr/>
        </p:nvCxnSpPr>
        <p:spPr>
          <a:xfrm>
            <a:off x="2116075" y="568500"/>
            <a:ext cx="5202300" cy="11700"/>
          </a:xfrm>
          <a:prstGeom prst="curvedConnector3">
            <a:avLst>
              <a:gd fmla="val 6862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72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